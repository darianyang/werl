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595" r:id="rId2"/>
    <p:sldId id="593" r:id="rId3"/>
    <p:sldId id="594" r:id="rId4"/>
    <p:sldId id="617" r:id="rId5"/>
    <p:sldId id="256" r:id="rId6"/>
    <p:sldId id="257" r:id="rId7"/>
    <p:sldId id="596" r:id="rId8"/>
    <p:sldId id="598" r:id="rId9"/>
    <p:sldId id="597" r:id="rId10"/>
    <p:sldId id="600" r:id="rId11"/>
    <p:sldId id="601" r:id="rId12"/>
    <p:sldId id="602" r:id="rId13"/>
    <p:sldId id="599" r:id="rId14"/>
    <p:sldId id="603" r:id="rId15"/>
    <p:sldId id="604" r:id="rId16"/>
    <p:sldId id="606" r:id="rId17"/>
    <p:sldId id="605" r:id="rId18"/>
    <p:sldId id="607" r:id="rId19"/>
    <p:sldId id="608" r:id="rId20"/>
    <p:sldId id="609" r:id="rId21"/>
    <p:sldId id="610" r:id="rId22"/>
    <p:sldId id="611" r:id="rId23"/>
    <p:sldId id="612" r:id="rId24"/>
    <p:sldId id="613" r:id="rId25"/>
    <p:sldId id="614" r:id="rId26"/>
    <p:sldId id="615" r:id="rId27"/>
    <p:sldId id="616" r:id="rId28"/>
    <p:sldId id="618" r:id="rId29"/>
    <p:sldId id="619" r:id="rId30"/>
    <p:sldId id="620" r:id="rId31"/>
    <p:sldId id="621" r:id="rId32"/>
    <p:sldId id="622" r:id="rId33"/>
    <p:sldId id="623" r:id="rId34"/>
    <p:sldId id="624" r:id="rId35"/>
    <p:sldId id="625" r:id="rId36"/>
    <p:sldId id="626" r:id="rId37"/>
    <p:sldId id="627" r:id="rId38"/>
    <p:sldId id="631" r:id="rId39"/>
    <p:sldId id="628" r:id="rId40"/>
    <p:sldId id="629" r:id="rId41"/>
    <p:sldId id="63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34"/>
    <p:restoredTop sz="87248"/>
  </p:normalViewPr>
  <p:slideViewPr>
    <p:cSldViewPr snapToGrid="0" snapToObjects="1">
      <p:cViewPr varScale="1">
        <p:scale>
          <a:sx n="88" d="100"/>
          <a:sy n="88" d="100"/>
        </p:scale>
        <p:origin x="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E9601-0AF2-0D41-8374-50454EBBD596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E7021-4749-A54C-9A77-137D46043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79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H&amp;K 10b is ~20% less simulation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F46C6-EA27-004C-9077-CBDF62581A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6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Did Tom Dixon use this potential?</a:t>
            </a:r>
          </a:p>
          <a:p>
            <a:r>
              <a:rPr lang="en-US" dirty="0"/>
              <a:t>Also Dan has a 1D and 2D potential that is similar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E7021-4749-A54C-9A77-137D460437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0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using ~1000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E7021-4749-A54C-9A77-137D4604378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39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using ~2000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E7021-4749-A54C-9A77-137D460437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92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4E40-C1AD-104F-8858-EF26B0B1F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6178A-D30C-AB4F-981F-62E91805B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A3E0B-F42F-C04C-BEF7-8E47FBD1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78238-58AB-2644-B598-426046A3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36051-38DD-244B-A802-57A95D15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A01D-F9BB-BE40-85E1-7EEA8EE0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01D-EF18-9B49-80F1-98DB7F06B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DA2C-DAA0-6849-B513-FAC4ED13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9CD38-E3F1-894E-B042-F61A87AB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5FD1-BF10-FB4C-B089-7B40C740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0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91AA-4160-834E-9225-57E12F9A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13FA2-5C05-3A4C-9071-D2E85C2F0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961F-6A3E-FE44-B223-2CF2AC92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BF1E1-3465-604C-A6B7-3D01B1B1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4160E-64C0-3046-AC76-1C14A0B0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3B7B-6221-634B-B094-6342680B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3292-A49E-E04E-9E08-5B9DD48DB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77272-C9CF-C542-A447-C7EE623D7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1C7D0-91A2-8A40-9E87-9F18090B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498CE-FD0F-284B-878A-1291DD5A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BCA7-D1D2-1148-B101-B0873FBA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5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D3AF-14EC-F04D-9A04-D7AE8AB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F124C-0523-AD46-B02B-8C517A587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B417D-96F1-544A-A86C-726BFD94E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99664-E3CA-FB45-8EA7-154111BE4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CE070-08F7-3D4D-B28F-A481D4ACA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896B0-E777-A04F-B3D4-CF83AB97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2D1F2-9510-534D-8D19-D05028E6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51B76-AA72-494A-9DB5-69A47A85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BD44-980C-2941-AC2F-CCD98B3A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34D3F-A2D6-9D4F-860D-970BEDBB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A6C23-B556-ED4E-BFAE-5CE266E39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DB2DB-5A0F-B14A-BEEA-B3B5C745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A99DB-1717-4F49-A4EC-7B7E892D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FA505-9C2A-C147-946B-228A15D6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13537-BEF4-394C-AA82-16A86744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0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C301-071A-F742-AE88-47B46D5F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4A95-2ED1-6943-8E17-4A9E5D52C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86E1F-84F8-3642-8C3E-3416E2D24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A4562-B0D0-5948-8AB1-BC9C1E74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BF167-0FFE-1B4A-BC1C-723FD19E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04A76-5750-BB48-A048-0153AB18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F3D6-0628-4547-B381-65FBCE4EC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8C79C-3B79-2246-BFDF-EDFD9D00E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8A2E6-1842-7D4F-A7CE-41C8B91DB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95E34-D191-564F-AE16-55B19044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BB604-6566-FE48-B6B1-06313FB7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9C572-9CEB-D04A-B2E2-442ECB2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4E58-A68B-BB4A-BF10-37552693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DADB4-E56D-3746-9F76-1723607C5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FEC3-20D1-8A42-BF31-8732AFD0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A52E9-9472-7045-9C9F-B54DC6E7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00B58-B8BC-D647-87C2-54B65674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95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9E67A-4CFF-4842-AE56-5DE811B97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81537-2395-7247-B53F-5B87B9D39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488BC-871E-F246-8899-9771D925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1359-02F1-B94E-A6B6-6DBF0BB3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DCC68-2B18-4242-99E0-6140A869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5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13B1C-488E-5948-A88E-F95DA8FE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FB256-C294-CE41-8A4F-41DDB386E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D8216-F757-324A-8FAF-20C9E2D08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3610C-5D22-D744-8F3F-CD76CCBFF091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31573-39F9-4C4B-95B9-C38F06006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5678B-8968-A94B-9843-FDE86F123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757B7-ADEE-2C46-8F9A-E0F4B444E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5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1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AFD2-F887-4D4F-ABE1-F196A4731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543EA-4AE0-B84F-84A1-BFF34F971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8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D86B-875D-3046-B2A1-5221C81F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Weighted Ensemble Reinforcement Learning (WERL)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EFF25D7D-1AF9-7146-80CE-D2000F175F0D}"/>
              </a:ext>
            </a:extLst>
          </p:cNvPr>
          <p:cNvSpPr txBox="1">
            <a:spLocks/>
          </p:cNvSpPr>
          <p:nvPr/>
        </p:nvSpPr>
        <p:spPr>
          <a:xfrm>
            <a:off x="107206" y="1460509"/>
            <a:ext cx="4556176" cy="49826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RL and MD: Reward or goal oriented adaptive sampling, e.g. FAST (RMSD only)</a:t>
            </a:r>
          </a:p>
          <a:p>
            <a:pPr lvl="1"/>
            <a:r>
              <a:rPr lang="en-US" dirty="0"/>
              <a:t>Start multiple trajectories</a:t>
            </a:r>
          </a:p>
          <a:p>
            <a:pPr lvl="1"/>
            <a:r>
              <a:rPr lang="en-US" dirty="0"/>
              <a:t>Choosing which to continue sampling based on reward function and least counts (LC)</a:t>
            </a:r>
          </a:p>
          <a:p>
            <a:pPr lvl="1"/>
            <a:r>
              <a:rPr lang="en-US" dirty="0"/>
              <a:t>To get accurate physics*: MSM</a:t>
            </a:r>
          </a:p>
          <a:p>
            <a:r>
              <a:rPr lang="en-US" dirty="0"/>
              <a:t>RL + WE (WERL):</a:t>
            </a:r>
          </a:p>
          <a:p>
            <a:pPr lvl="1"/>
            <a:r>
              <a:rPr lang="en-US" dirty="0"/>
              <a:t>Reward-based </a:t>
            </a:r>
            <a:r>
              <a:rPr lang="en-US" b="1" dirty="0"/>
              <a:t>split</a:t>
            </a:r>
            <a:r>
              <a:rPr lang="en-US" dirty="0"/>
              <a:t>/merge in </a:t>
            </a:r>
            <a:r>
              <a:rPr lang="en-US" dirty="0" err="1"/>
              <a:t>binless</a:t>
            </a:r>
            <a:r>
              <a:rPr lang="en-US" dirty="0"/>
              <a:t> framework</a:t>
            </a:r>
          </a:p>
          <a:p>
            <a:pPr lvl="1"/>
            <a:r>
              <a:rPr lang="en-US" dirty="0"/>
              <a:t>Ideally adjust to focus on cumulative rewards (recycling)</a:t>
            </a:r>
          </a:p>
          <a:p>
            <a:pPr lvl="1"/>
            <a:r>
              <a:rPr lang="en-US" dirty="0"/>
              <a:t>No inherent need for MSM (normally due to sampling bias)</a:t>
            </a:r>
          </a:p>
          <a:p>
            <a:pPr lvl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9FE2E4-D7AA-DC43-B54D-C0727BC18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382" y="2531788"/>
            <a:ext cx="7528618" cy="23883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2BCFAD-7CF4-154C-A9B4-167B919619AF}"/>
              </a:ext>
            </a:extLst>
          </p:cNvPr>
          <p:cNvSpPr txBox="1"/>
          <p:nvPr/>
        </p:nvSpPr>
        <p:spPr>
          <a:xfrm>
            <a:off x="5963410" y="2347122"/>
            <a:ext cx="68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cMD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360D89-F7C7-A444-BF79-32E89CDACBAF}"/>
              </a:ext>
            </a:extLst>
          </p:cNvPr>
          <p:cNvSpPr txBox="1"/>
          <p:nvPr/>
        </p:nvSpPr>
        <p:spPr>
          <a:xfrm>
            <a:off x="7918052" y="2340783"/>
            <a:ext cx="1473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Least Counts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3FA8A0-F76F-5547-B15C-527D05AD4959}"/>
              </a:ext>
            </a:extLst>
          </p:cNvPr>
          <p:cNvSpPr txBox="1"/>
          <p:nvPr/>
        </p:nvSpPr>
        <p:spPr>
          <a:xfrm>
            <a:off x="10423757" y="2340783"/>
            <a:ext cx="73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20" name="Footer Placeholder 12">
            <a:extLst>
              <a:ext uri="{FF2B5EF4-FFF2-40B4-BE49-F238E27FC236}">
                <a16:creationId xmlns:a16="http://schemas.microsoft.com/office/drawing/2014/main" id="{DD650692-F36C-3A47-AA8C-AF0F275E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3872" y="5104759"/>
            <a:ext cx="7187638" cy="336173"/>
          </a:xfrm>
        </p:spPr>
        <p:txBody>
          <a:bodyPr/>
          <a:lstStyle/>
          <a:p>
            <a:r>
              <a:rPr lang="en-US" dirty="0"/>
              <a:t>Zahra Shamsi, Kevin J. Cheng, and Diwakar Shukla, J. Phys. Chem. B 2018, 122, 35, 8386–8395</a:t>
            </a:r>
          </a:p>
        </p:txBody>
      </p:sp>
    </p:spTree>
    <p:extLst>
      <p:ext uri="{BB962C8B-B14F-4D97-AF65-F5344CB8AC3E}">
        <p14:creationId xmlns:p14="http://schemas.microsoft.com/office/powerpoint/2010/main" val="383319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DFB3F6-1BB2-7B4E-B3EF-0A554FECE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12" y="276854"/>
            <a:ext cx="3750860" cy="26791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DC4D3-CA81-184A-9597-DCBB3AA68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289" y="276854"/>
            <a:ext cx="3750860" cy="2679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6C97DE-0E2C-9D46-9C98-99AADA497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289" y="3504062"/>
            <a:ext cx="3750860" cy="2679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67250B-F901-7A44-99B3-BCA1DA18C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453" y="276854"/>
            <a:ext cx="3750860" cy="2679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F675F4-47B3-864A-95FD-145EC0EDE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012" y="3504062"/>
            <a:ext cx="3750860" cy="26791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CE3448-7562-0245-B46C-C3EBE4540258}"/>
              </a:ext>
            </a:extLst>
          </p:cNvPr>
          <p:cNvSpPr txBox="1"/>
          <p:nvPr/>
        </p:nvSpPr>
        <p:spPr>
          <a:xfrm>
            <a:off x="1753018" y="19679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(</a:t>
            </a:r>
            <a:r>
              <a:rPr lang="en-US" sz="1600" b="1" dirty="0" err="1"/>
              <a:t>cMD</a:t>
            </a:r>
            <a:r>
              <a:rPr lang="en-US" sz="1600" b="1" dirty="0"/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F04D99-E2D5-BE4D-991C-E1B637AF0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6062" y="3221428"/>
            <a:ext cx="4325938" cy="32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70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ED94C9-C1AD-2C41-A4D8-996DDDD8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With updated 1000i </a:t>
            </a:r>
            <a:r>
              <a:rPr lang="en-US" b="1" dirty="0" err="1"/>
              <a:t>lowS</a:t>
            </a:r>
            <a:r>
              <a:rPr lang="en-US" b="1" dirty="0"/>
              <a:t> run std 10bin H&amp;K and updated ODLD potential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44AB9-6BB1-CF4A-8FAA-E9A75F843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150" y="2490035"/>
            <a:ext cx="3929014" cy="2863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A22D2-9276-BF4D-BABC-BFFA25B11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37" y="2508485"/>
            <a:ext cx="3732551" cy="2593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782645-4247-1D46-BEAC-63E979550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164" y="2490035"/>
            <a:ext cx="3929013" cy="28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4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A8F7-A814-9948-AB96-B004184B6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MM 2D Potentials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B4C15-9C77-154D-AC6F-77CA309B5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6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52CC8-47C8-CE4F-993A-BFF455D6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7" y="1738859"/>
            <a:ext cx="5455444" cy="4086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4B9424-BB65-544D-A2DF-69DCA3C56208}"/>
              </a:ext>
            </a:extLst>
          </p:cNvPr>
          <p:cNvSpPr txBox="1"/>
          <p:nvPr/>
        </p:nvSpPr>
        <p:spPr>
          <a:xfrm>
            <a:off x="1588957" y="1214203"/>
            <a:ext cx="202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made 2D ODLD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DAEC3-0328-3740-9BD7-00A026248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60" y="455731"/>
            <a:ext cx="3728229" cy="25662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DCADC4-0FCF-1243-8FA1-92C2567AF358}"/>
              </a:ext>
            </a:extLst>
          </p:cNvPr>
          <p:cNvSpPr txBox="1"/>
          <p:nvPr/>
        </p:nvSpPr>
        <p:spPr>
          <a:xfrm>
            <a:off x="7070360" y="14990"/>
            <a:ext cx="373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500i, </a:t>
            </a:r>
            <a:r>
              <a:rPr lang="en-US" dirty="0" err="1"/>
              <a:t>stdMD</a:t>
            </a:r>
            <a:r>
              <a:rPr lang="en-US" dirty="0"/>
              <a:t>, 100 walkers, ATB 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DCFE5-D8E4-8343-A34C-70E85489B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360" y="3864149"/>
            <a:ext cx="3671073" cy="2624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09D024-DFB7-1246-B233-53185F88136D}"/>
              </a:ext>
            </a:extLst>
          </p:cNvPr>
          <p:cNvSpPr txBox="1"/>
          <p:nvPr/>
        </p:nvSpPr>
        <p:spPr>
          <a:xfrm>
            <a:off x="6930367" y="3494817"/>
            <a:ext cx="400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updated version, should be the same</a:t>
            </a:r>
          </a:p>
        </p:txBody>
      </p:sp>
    </p:spTree>
    <p:extLst>
      <p:ext uri="{BB962C8B-B14F-4D97-AF65-F5344CB8AC3E}">
        <p14:creationId xmlns:p14="http://schemas.microsoft.com/office/powerpoint/2010/main" val="349717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52CC8-47C8-CE4F-993A-BFF455D6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7" y="1738859"/>
            <a:ext cx="5455444" cy="4086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4B9424-BB65-544D-A2DF-69DCA3C56208}"/>
              </a:ext>
            </a:extLst>
          </p:cNvPr>
          <p:cNvSpPr txBox="1"/>
          <p:nvPr/>
        </p:nvSpPr>
        <p:spPr>
          <a:xfrm>
            <a:off x="1588957" y="1214203"/>
            <a:ext cx="202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made 2D ODLD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CADC4-0FCF-1243-8FA1-92C2567AF358}"/>
              </a:ext>
            </a:extLst>
          </p:cNvPr>
          <p:cNvSpPr txBox="1"/>
          <p:nvPr/>
        </p:nvSpPr>
        <p:spPr>
          <a:xfrm>
            <a:off x="6532084" y="0"/>
            <a:ext cx="4804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500i, H&amp;K 10 bins, 5 walkers per bin, ATB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9D024-DFB7-1246-B233-53185F88136D}"/>
              </a:ext>
            </a:extLst>
          </p:cNvPr>
          <p:cNvSpPr txBox="1"/>
          <p:nvPr/>
        </p:nvSpPr>
        <p:spPr>
          <a:xfrm>
            <a:off x="6464696" y="3244334"/>
            <a:ext cx="536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updated version, same params, should be the same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283D2-518A-6D4A-9684-ECBAE693A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968" y="413062"/>
            <a:ext cx="3671008" cy="2651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72C63C-3BE9-E04E-A04A-F879A9B25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863" y="3897651"/>
            <a:ext cx="3583113" cy="2547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E91908-E89B-BF49-9F6B-FC875426025C}"/>
              </a:ext>
            </a:extLst>
          </p:cNvPr>
          <p:cNvSpPr txBox="1"/>
          <p:nvPr/>
        </p:nvSpPr>
        <p:spPr>
          <a:xfrm>
            <a:off x="5145617" y="6444938"/>
            <a:ext cx="1319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Looks good!</a:t>
            </a:r>
          </a:p>
        </p:txBody>
      </p:sp>
    </p:spTree>
    <p:extLst>
      <p:ext uri="{BB962C8B-B14F-4D97-AF65-F5344CB8AC3E}">
        <p14:creationId xmlns:p14="http://schemas.microsoft.com/office/powerpoint/2010/main" val="4260414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52CC8-47C8-CE4F-993A-BFF455D63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7" y="1738859"/>
            <a:ext cx="5455444" cy="4086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4B9424-BB65-544D-A2DF-69DCA3C56208}"/>
              </a:ext>
            </a:extLst>
          </p:cNvPr>
          <p:cNvSpPr txBox="1"/>
          <p:nvPr/>
        </p:nvSpPr>
        <p:spPr>
          <a:xfrm>
            <a:off x="1588957" y="1214203"/>
            <a:ext cx="202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made 2D ODLD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CADC4-0FCF-1243-8FA1-92C2567AF358}"/>
              </a:ext>
            </a:extLst>
          </p:cNvPr>
          <p:cNvSpPr txBox="1"/>
          <p:nvPr/>
        </p:nvSpPr>
        <p:spPr>
          <a:xfrm>
            <a:off x="6532084" y="0"/>
            <a:ext cx="467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H&amp;K 10 bins, 5 walkers per bin, my 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9D024-DFB7-1246-B233-53185F88136D}"/>
              </a:ext>
            </a:extLst>
          </p:cNvPr>
          <p:cNvSpPr txBox="1"/>
          <p:nvPr/>
        </p:nvSpPr>
        <p:spPr>
          <a:xfrm>
            <a:off x="6534224" y="413062"/>
            <a:ext cx="488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 starting from 1.8, 1.8, should be stuck (</a:t>
            </a:r>
            <a:r>
              <a:rPr lang="en-US" dirty="0" err="1"/>
              <a:t>ish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86100-02D3-4B44-80C8-8874FE989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58" y="1094281"/>
            <a:ext cx="4937264" cy="349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5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789697-3B45-674F-A89B-D0CAD62F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12" y="1648916"/>
            <a:ext cx="5273207" cy="3954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0128D2-11C5-C94C-B22D-AF5EE9076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9612"/>
            <a:ext cx="5396066" cy="3744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7011768" y="1069513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3687580" y="6370820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good…</a:t>
            </a:r>
          </a:p>
        </p:txBody>
      </p:sp>
    </p:spTree>
    <p:extLst>
      <p:ext uri="{BB962C8B-B14F-4D97-AF65-F5344CB8AC3E}">
        <p14:creationId xmlns:p14="http://schemas.microsoft.com/office/powerpoint/2010/main" val="26557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7011768" y="1069513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1132889" y="1002585"/>
            <a:ext cx="4047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I adjust the numbers to be more like 2D ODLD?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42125-49FC-B744-941E-EF56534FD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19689"/>
            <a:ext cx="5023087" cy="3613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B96D19-1732-384B-9CBF-348DA8BC90F8}"/>
              </a:ext>
            </a:extLst>
          </p:cNvPr>
          <p:cNvSpPr txBox="1"/>
          <p:nvPr/>
        </p:nvSpPr>
        <p:spPr>
          <a:xfrm>
            <a:off x="4407108" y="640080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Nope…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616E33-F1B7-BA46-BF5E-42A19435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34" y="1819689"/>
            <a:ext cx="5548653" cy="41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2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7011768" y="1069513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1132889" y="1002585"/>
            <a:ext cx="4047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I also include reflecting barriers?</a:t>
            </a:r>
          </a:p>
          <a:p>
            <a:r>
              <a:rPr lang="en-US" dirty="0"/>
              <a:t>At -0.5, -0.5 and 2.5, 2.5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8FEFD-6414-E744-89F7-CDF414756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437" y="1705699"/>
            <a:ext cx="5466830" cy="384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415458-D19F-6149-88EE-1582E51A1D92}"/>
              </a:ext>
            </a:extLst>
          </p:cNvPr>
          <p:cNvSpPr txBox="1"/>
          <p:nvPr/>
        </p:nvSpPr>
        <p:spPr>
          <a:xfrm>
            <a:off x="3836952" y="6250152"/>
            <a:ext cx="3726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Huh…. Interesting, it’s almost working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9472AD-FB23-EB40-A601-A7D68DCE8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34" y="1819689"/>
            <a:ext cx="5548653" cy="41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1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C90F4-5F3F-4F4A-A067-F061962CFD6F}"/>
              </a:ext>
            </a:extLst>
          </p:cNvPr>
          <p:cNvSpPr txBox="1"/>
          <p:nvPr/>
        </p:nvSpPr>
        <p:spPr>
          <a:xfrm>
            <a:off x="6981788" y="110142"/>
            <a:ext cx="309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300i, 1 bin, 50 walkers per bin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15C85-719A-C549-85F8-C3F1B8510C26}"/>
              </a:ext>
            </a:extLst>
          </p:cNvPr>
          <p:cNvSpPr txBox="1"/>
          <p:nvPr/>
        </p:nvSpPr>
        <p:spPr>
          <a:xfrm>
            <a:off x="1132889" y="1002585"/>
            <a:ext cx="4047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idea, maybe I can make the high limit extreme, in the 2D ODLD it’s at 200000, let’s try that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0BDEC0-BD75-2645-A69D-B70BCCF69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14" y="2053652"/>
            <a:ext cx="5505293" cy="40423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D3BCC3-CD8F-C842-8DE6-22365573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480" y="3907682"/>
            <a:ext cx="4137557" cy="2913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18A5B-B8E7-6D46-A38B-B1AC33169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894" y="943794"/>
            <a:ext cx="4137557" cy="2964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6B5184-987C-3844-9D0A-A7FFE35E8768}"/>
              </a:ext>
            </a:extLst>
          </p:cNvPr>
          <p:cNvSpPr txBox="1"/>
          <p:nvPr/>
        </p:nvSpPr>
        <p:spPr>
          <a:xfrm>
            <a:off x="3518052" y="6223737"/>
            <a:ext cx="18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Still not working…</a:t>
            </a:r>
          </a:p>
        </p:txBody>
      </p:sp>
    </p:spTree>
    <p:extLst>
      <p:ext uri="{BB962C8B-B14F-4D97-AF65-F5344CB8AC3E}">
        <p14:creationId xmlns:p14="http://schemas.microsoft.com/office/powerpoint/2010/main" val="2730322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5CAAB0E-D7F0-F34C-BC01-DB8F2C18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288" y="3600985"/>
            <a:ext cx="4324350" cy="30517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9AE438-C397-044F-8AAE-B9D903050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45" y="389944"/>
            <a:ext cx="3056305" cy="22895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190D23-7907-524C-83E8-B91DD249358A}"/>
              </a:ext>
            </a:extLst>
          </p:cNvPr>
          <p:cNvSpPr txBox="1"/>
          <p:nvPr/>
        </p:nvSpPr>
        <p:spPr>
          <a:xfrm>
            <a:off x="524657" y="20612"/>
            <a:ext cx="2876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just use this 2D for 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AEF66-31AD-EB49-BCCE-DC2287EEF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957" y="205278"/>
            <a:ext cx="3751289" cy="2679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A6D002-3087-DF44-B14E-5F8DD62C2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054" y="216521"/>
            <a:ext cx="3751289" cy="26794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FFB65F-E577-3C4E-B8DF-C476158C2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3" y="3797300"/>
            <a:ext cx="4324350" cy="3060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2D631E-4539-8C48-B978-678243E2CFC1}"/>
              </a:ext>
            </a:extLst>
          </p:cNvPr>
          <p:cNvSpPr txBox="1"/>
          <p:nvPr/>
        </p:nvSpPr>
        <p:spPr>
          <a:xfrm>
            <a:off x="4034702" y="2786497"/>
            <a:ext cx="22485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Seems there is still a boundary issue, I updated the possible bin placements and tried again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1D987-933A-A341-B9BA-2063FC607037}"/>
              </a:ext>
            </a:extLst>
          </p:cNvPr>
          <p:cNvSpPr txBox="1"/>
          <p:nvPr/>
        </p:nvSpPr>
        <p:spPr>
          <a:xfrm>
            <a:off x="9791699" y="3176875"/>
            <a:ext cx="2290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Ahh, but I forgot to also include reflection at 0 and the extra inf bounds: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A74495-4FB3-7A4C-9C34-0EF986E0A554}"/>
              </a:ext>
            </a:extLst>
          </p:cNvPr>
          <p:cNvSpPr txBox="1"/>
          <p:nvPr/>
        </p:nvSpPr>
        <p:spPr>
          <a:xfrm>
            <a:off x="10268262" y="5516380"/>
            <a:ext cx="1399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Hmmm, still didn’t work</a:t>
            </a:r>
          </a:p>
        </p:txBody>
      </p:sp>
    </p:spTree>
    <p:extLst>
      <p:ext uri="{BB962C8B-B14F-4D97-AF65-F5344CB8AC3E}">
        <p14:creationId xmlns:p14="http://schemas.microsoft.com/office/powerpoint/2010/main" val="489168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EB5C6A-3860-9A48-B843-2D38D6EA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32" y="501043"/>
            <a:ext cx="3579195" cy="25497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223602-02CF-AA4D-8673-A38E4A2EA522}"/>
              </a:ext>
            </a:extLst>
          </p:cNvPr>
          <p:cNvSpPr txBox="1"/>
          <p:nvPr/>
        </p:nvSpPr>
        <p:spPr>
          <a:xfrm>
            <a:off x="659567" y="160107"/>
            <a:ext cx="473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 style 2Dodld also didn’t work with MAB bins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57246-A85D-9C41-8B74-6FC9884828C7}"/>
              </a:ext>
            </a:extLst>
          </p:cNvPr>
          <p:cNvSpPr txBox="1"/>
          <p:nvPr/>
        </p:nvSpPr>
        <p:spPr>
          <a:xfrm>
            <a:off x="6865496" y="344773"/>
            <a:ext cx="43321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Okay so I then tried without MAB and again it seems to be working fine (the reflecting boundary conditions)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doing this I stumbled on a potentially interesting finding: maybe the potentials were inverse? Testing this using the negative return of the potential function (because it seemed like it was actually sampling this inverse space)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worked!!! See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76F10-E255-9B41-8D50-9D622BE03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683" y="3559072"/>
            <a:ext cx="4567420" cy="32566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FCBC0F-0053-AD4D-93B0-C26C5C85A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856" y="4148111"/>
            <a:ext cx="3354324" cy="2549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A861F-9C0B-F44C-A067-EFA8A27A7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97" y="4130285"/>
            <a:ext cx="3492332" cy="2685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671AC0-852F-F240-8A4C-0D634FECB25A}"/>
              </a:ext>
            </a:extLst>
          </p:cNvPr>
          <p:cNvSpPr txBox="1"/>
          <p:nvPr/>
        </p:nvSpPr>
        <p:spPr>
          <a:xfrm>
            <a:off x="154897" y="3760953"/>
            <a:ext cx="340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I was actually sampling this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F17B72-B5C1-D245-90E0-82C214B67B47}"/>
              </a:ext>
            </a:extLst>
          </p:cNvPr>
          <p:cNvSpPr txBox="1"/>
          <p:nvPr/>
        </p:nvSpPr>
        <p:spPr>
          <a:xfrm>
            <a:off x="3767160" y="3783235"/>
            <a:ext cx="379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not what I thought which was this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D762A-01B5-474F-9228-470CFB17C658}"/>
              </a:ext>
            </a:extLst>
          </p:cNvPr>
          <p:cNvSpPr txBox="1"/>
          <p:nvPr/>
        </p:nvSpPr>
        <p:spPr>
          <a:xfrm>
            <a:off x="9218951" y="4347147"/>
            <a:ext cx="1450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Started at 1,1</a:t>
            </a:r>
          </a:p>
        </p:txBody>
      </p:sp>
    </p:spTree>
    <p:extLst>
      <p:ext uri="{BB962C8B-B14F-4D97-AF65-F5344CB8AC3E}">
        <p14:creationId xmlns:p14="http://schemas.microsoft.com/office/powerpoint/2010/main" val="250864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5F380-CE5E-AB40-BD14-E8AD3809097E}"/>
              </a:ext>
            </a:extLst>
          </p:cNvPr>
          <p:cNvSpPr txBox="1"/>
          <p:nvPr/>
        </p:nvSpPr>
        <p:spPr>
          <a:xfrm>
            <a:off x="674557" y="494675"/>
            <a:ext cx="62997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I also do this to fix the L potential?</a:t>
            </a:r>
          </a:p>
          <a:p>
            <a:r>
              <a:rPr lang="en-US" dirty="0"/>
              <a:t>Trying with a negative mod plus a 100 offset to center it around 0</a:t>
            </a:r>
          </a:p>
          <a:p>
            <a:r>
              <a:rPr lang="en-US" dirty="0"/>
              <a:t>Reflections at -0.5 and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DCF08-BF3C-BB49-8980-BC176D05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828"/>
            <a:ext cx="5842091" cy="41559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EC437E-DEDF-B341-9C28-1EB099E6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810" y="1418005"/>
            <a:ext cx="3174565" cy="2288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EDA651-CB1B-2C45-A5B7-F78F6667BF0E}"/>
              </a:ext>
            </a:extLst>
          </p:cNvPr>
          <p:cNvSpPr txBox="1"/>
          <p:nvPr/>
        </p:nvSpPr>
        <p:spPr>
          <a:xfrm>
            <a:off x="7425128" y="217676"/>
            <a:ext cx="4477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basically working, but this was just 100 iterations with 40 walkers in one inf bin, so this system is too easy, though compared to the 2d </a:t>
            </a:r>
            <a:r>
              <a:rPr lang="en-US" dirty="0" err="1"/>
              <a:t>odld</a:t>
            </a:r>
            <a:r>
              <a:rPr lang="en-US" dirty="0"/>
              <a:t> the barrier is lower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36441-2C62-DB4D-9009-519EAAA2D4F6}"/>
              </a:ext>
            </a:extLst>
          </p:cNvPr>
          <p:cNvSpPr txBox="1"/>
          <p:nvPr/>
        </p:nvSpPr>
        <p:spPr>
          <a:xfrm>
            <a:off x="7465102" y="3912433"/>
            <a:ext cx="4100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what if I use a higher sigma/friction?</a:t>
            </a:r>
          </a:p>
          <a:p>
            <a:r>
              <a:rPr lang="en-US" dirty="0"/>
              <a:t>From 0.001 ** (0.5)  to 0.0001 ** (0.5) </a:t>
            </a:r>
          </a:p>
          <a:p>
            <a:r>
              <a:rPr lang="en-US" dirty="0"/>
              <a:t>Same other params as above: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F6723B-BB3A-3F48-B165-B6777DB3C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84" y="4906647"/>
            <a:ext cx="2663252" cy="1834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175E54-1763-604B-84E5-5BC80D206CA7}"/>
              </a:ext>
            </a:extLst>
          </p:cNvPr>
          <p:cNvSpPr txBox="1"/>
          <p:nvPr/>
        </p:nvSpPr>
        <p:spPr>
          <a:xfrm>
            <a:off x="9663659" y="5439995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bad…</a:t>
            </a:r>
          </a:p>
        </p:txBody>
      </p:sp>
    </p:spTree>
    <p:extLst>
      <p:ext uri="{BB962C8B-B14F-4D97-AF65-F5344CB8AC3E}">
        <p14:creationId xmlns:p14="http://schemas.microsoft.com/office/powerpoint/2010/main" val="3310588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5F380-CE5E-AB40-BD14-E8AD3809097E}"/>
              </a:ext>
            </a:extLst>
          </p:cNvPr>
          <p:cNvSpPr txBox="1"/>
          <p:nvPr/>
        </p:nvSpPr>
        <p:spPr>
          <a:xfrm>
            <a:off x="380369" y="112450"/>
            <a:ext cx="6011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feel like it was still sampling the region near 0 on the potential</a:t>
            </a:r>
          </a:p>
          <a:p>
            <a:r>
              <a:rPr lang="en-US" dirty="0"/>
              <a:t>I wonder if the negative region was also being treated as positive from some part of the code?</a:t>
            </a:r>
          </a:p>
          <a:p>
            <a:r>
              <a:rPr lang="en-US" dirty="0"/>
              <a:t>Trying again with an all positive L potential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DCF08-BF3C-BB49-8980-BC176D05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828"/>
            <a:ext cx="5842091" cy="4155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EF8-D40E-E041-8B53-81CDA172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758" y="150960"/>
            <a:ext cx="4316855" cy="3278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EE7E4F-E774-EB48-842F-6D9BBF2E3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761" y="3623050"/>
            <a:ext cx="4327779" cy="3064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2F9EA6-44CF-DD46-915D-356026B20CC0}"/>
              </a:ext>
            </a:extLst>
          </p:cNvPr>
          <p:cNvSpPr txBox="1"/>
          <p:nvPr/>
        </p:nvSpPr>
        <p:spPr>
          <a:xfrm>
            <a:off x="10354417" y="4017364"/>
            <a:ext cx="1806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did not work</a:t>
            </a:r>
          </a:p>
        </p:txBody>
      </p:sp>
    </p:spTree>
    <p:extLst>
      <p:ext uri="{BB962C8B-B14F-4D97-AF65-F5344CB8AC3E}">
        <p14:creationId xmlns:p14="http://schemas.microsoft.com/office/powerpoint/2010/main" val="1717798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045BA-5782-F149-AD6C-F2422B8D6D2A}"/>
              </a:ext>
            </a:extLst>
          </p:cNvPr>
          <p:cNvSpPr txBox="1"/>
          <p:nvPr/>
        </p:nvSpPr>
        <p:spPr>
          <a:xfrm>
            <a:off x="749508" y="404734"/>
            <a:ext cx="501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Wait, not I’m not sure, let’s go back to the 2D ODLD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D8089-9DB7-F746-A972-B1FB15678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38" y="1289153"/>
            <a:ext cx="3033995" cy="24419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731BDA-B5BA-A544-9238-E8257D8DFE36}"/>
              </a:ext>
            </a:extLst>
          </p:cNvPr>
          <p:cNvSpPr txBox="1"/>
          <p:nvPr/>
        </p:nvSpPr>
        <p:spPr>
          <a:xfrm>
            <a:off x="569626" y="774066"/>
            <a:ext cx="4364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feel like I was actually sampling the abs of 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35A83-7883-7449-84D6-9C6902218133}"/>
              </a:ext>
            </a:extLst>
          </p:cNvPr>
          <p:cNvSpPr txBox="1"/>
          <p:nvPr/>
        </p:nvSpPr>
        <p:spPr>
          <a:xfrm>
            <a:off x="6969150" y="218945"/>
            <a:ext cx="4395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test by starting a sim at 2.4 2.4, on peak</a:t>
            </a:r>
          </a:p>
          <a:p>
            <a:r>
              <a:rPr lang="en-US" dirty="0"/>
              <a:t>Friction to 0.01 to make it easier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E90EA-D4CC-2A48-9C8C-B85BD92C90A2}"/>
              </a:ext>
            </a:extLst>
          </p:cNvPr>
          <p:cNvSpPr txBox="1"/>
          <p:nvPr/>
        </p:nvSpPr>
        <p:spPr>
          <a:xfrm>
            <a:off x="5596073" y="3715319"/>
            <a:ext cx="4151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Okay, now what about at 1.9 1.9, on valley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B31399-936D-FF48-8FE3-1AB034841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98" y="774066"/>
            <a:ext cx="4165904" cy="29161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F48346-D51F-8648-B1E3-B7257BD35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444" y="4485557"/>
            <a:ext cx="3122265" cy="21809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31C428-8982-B04F-AA6E-AFEFF95F2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6498" y="4267131"/>
            <a:ext cx="2737524" cy="20809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CA1D3E-C1E0-8E4C-B9F8-7EE07FA13B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860" y="4245320"/>
            <a:ext cx="2850155" cy="21916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D47924-FDAF-C945-B151-2E9BF09DA86E}"/>
              </a:ext>
            </a:extLst>
          </p:cNvPr>
          <p:cNvSpPr txBox="1"/>
          <p:nvPr/>
        </p:nvSpPr>
        <p:spPr>
          <a:xfrm>
            <a:off x="2081499" y="3923981"/>
            <a:ext cx="169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 it was these?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3EE6E-C8AF-7B46-A2DC-5A440087C2C6}"/>
              </a:ext>
            </a:extLst>
          </p:cNvPr>
          <p:cNvSpPr txBox="1"/>
          <p:nvPr/>
        </p:nvSpPr>
        <p:spPr>
          <a:xfrm>
            <a:off x="10604942" y="3541823"/>
            <a:ext cx="1708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 with the lower friction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D9DA97-2FA6-2E42-9CFA-1BF3780B7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9735" y="4447420"/>
            <a:ext cx="3122265" cy="21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4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C7A055-C901-4043-8B27-A248F744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59" y="1286306"/>
            <a:ext cx="5245492" cy="39752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FAF2F0-40F2-0246-AAFC-41B5303F6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58857"/>
            <a:ext cx="5229567" cy="397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3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076D2-F617-2544-8692-F9E6E72BF785}"/>
              </a:ext>
            </a:extLst>
          </p:cNvPr>
          <p:cNvSpPr txBox="1"/>
          <p:nvPr/>
        </p:nvSpPr>
        <p:spPr>
          <a:xfrm>
            <a:off x="374754" y="929390"/>
            <a:ext cx="4691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 64 regular bins and 500i, my 2D </a:t>
            </a:r>
            <a:r>
              <a:rPr lang="en-US" dirty="0" err="1"/>
              <a:t>odld</a:t>
            </a:r>
            <a:r>
              <a:rPr lang="en-US" dirty="0"/>
              <a:t> code</a:t>
            </a:r>
          </a:p>
          <a:p>
            <a:r>
              <a:rPr lang="en-US" dirty="0"/>
              <a:t>Using 0.01 (lower friction)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10A85-E07D-C64E-986A-90D810302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782"/>
            <a:ext cx="6188127" cy="4388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A6A7B1-EEE2-374F-9B44-96747146FFF6}"/>
              </a:ext>
            </a:extLst>
          </p:cNvPr>
          <p:cNvSpPr txBox="1"/>
          <p:nvPr/>
        </p:nvSpPr>
        <p:spPr>
          <a:xfrm>
            <a:off x="8109679" y="1124262"/>
            <a:ext cx="26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with ATB ODLD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B4CC2-EBFB-E040-980A-587FA6B9F167}"/>
              </a:ext>
            </a:extLst>
          </p:cNvPr>
          <p:cNvSpPr txBox="1"/>
          <p:nvPr/>
        </p:nvSpPr>
        <p:spPr>
          <a:xfrm>
            <a:off x="3332345" y="0"/>
            <a:ext cx="571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both I changed the gradient to output negative 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6610B-192C-734C-BB82-A4367FB0B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804" y="1781052"/>
            <a:ext cx="6188127" cy="4302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02C7B-A392-E14B-B6FA-C9382B218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097" y="5311701"/>
            <a:ext cx="1981497" cy="1506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AEE8E2-84D0-7A4D-AC29-308A76A33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345" y="5271633"/>
            <a:ext cx="2063022" cy="15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6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97864B-D841-CD4A-AB5E-1AC855C4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30" y="1626979"/>
            <a:ext cx="5757470" cy="40184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7EFFC8-1577-B54A-9C84-5F438847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thing but with the positive potential, the standard one from before: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2EA73-B6ED-DA43-AF52-1EDBF07ED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705" y="1730756"/>
            <a:ext cx="5812957" cy="4018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3E1F5B-2B9A-A54C-BF8B-79EEA76ED0D9}"/>
              </a:ext>
            </a:extLst>
          </p:cNvPr>
          <p:cNvSpPr txBox="1"/>
          <p:nvPr/>
        </p:nvSpPr>
        <p:spPr>
          <a:xfrm>
            <a:off x="9323882" y="2278505"/>
            <a:ext cx="536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4D735-47E6-8548-8CD7-32EC5F837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69" y="5311701"/>
            <a:ext cx="1981497" cy="1506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AF5386-F87B-7548-81A5-5AE3654C7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217" y="5271633"/>
            <a:ext cx="2063022" cy="15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E5EA5-80B6-F74F-B12D-4307E3A4F499}"/>
              </a:ext>
            </a:extLst>
          </p:cNvPr>
          <p:cNvSpPr txBox="1"/>
          <p:nvPr/>
        </p:nvSpPr>
        <p:spPr>
          <a:xfrm>
            <a:off x="1160738" y="179882"/>
            <a:ext cx="9870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I’m curious what the egg carton looks like, so trying from -10 to 0 with corresponding reflections </a:t>
            </a:r>
          </a:p>
          <a:p>
            <a:r>
              <a:rPr lang="en-US" dirty="0"/>
              <a:t>81 standard linear bins from -10 to -2, 0 in 2D, at this point no need to also run ATB 2D </a:t>
            </a:r>
            <a:r>
              <a:rPr lang="en-US" dirty="0" err="1"/>
              <a:t>odld</a:t>
            </a:r>
            <a:r>
              <a:rPr lang="en-US" dirty="0"/>
              <a:t> to compare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167333-4BAE-0249-A3BF-27D59B158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61" y="1896138"/>
            <a:ext cx="5245492" cy="3975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A111C-16DD-9C40-A007-A652FEE77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089" y="1682909"/>
            <a:ext cx="5503160" cy="386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9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E5EA5-80B6-F74F-B12D-4307E3A4F499}"/>
              </a:ext>
            </a:extLst>
          </p:cNvPr>
          <p:cNvSpPr txBox="1"/>
          <p:nvPr/>
        </p:nvSpPr>
        <p:spPr>
          <a:xfrm>
            <a:off x="1160738" y="179882"/>
            <a:ext cx="98705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I’m curious what the egg carton looks like, so trying from -10 to 0 with corresponding reflections </a:t>
            </a:r>
          </a:p>
          <a:p>
            <a:r>
              <a:rPr lang="en-US" dirty="0"/>
              <a:t>81 standard linear bins from -10 to -2, 0 in 2D, at this point no need to also run ATB 2D </a:t>
            </a:r>
            <a:r>
              <a:rPr lang="en-US" dirty="0" err="1"/>
              <a:t>odld</a:t>
            </a:r>
            <a:r>
              <a:rPr lang="en-US" dirty="0"/>
              <a:t> to compare</a:t>
            </a:r>
          </a:p>
          <a:p>
            <a:endParaRPr lang="en-US" dirty="0"/>
          </a:p>
          <a:p>
            <a:r>
              <a:rPr lang="en-US" dirty="0"/>
              <a:t>What about the negative of this?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85CFA-5A07-0048-A015-02399A9D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51" y="2187929"/>
            <a:ext cx="5311515" cy="3937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8D329-55D4-774B-8E1E-A4C2414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619" y="1200879"/>
            <a:ext cx="5771630" cy="40640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33C83D-090F-4B49-AC1A-80B34105DA42}"/>
              </a:ext>
            </a:extLst>
          </p:cNvPr>
          <p:cNvSpPr txBox="1"/>
          <p:nvPr/>
        </p:nvSpPr>
        <p:spPr>
          <a:xfrm>
            <a:off x="7683882" y="5722126"/>
            <a:ext cx="2485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Couldn’t really explore it</a:t>
            </a:r>
          </a:p>
        </p:txBody>
      </p:sp>
    </p:spTree>
    <p:extLst>
      <p:ext uri="{BB962C8B-B14F-4D97-AF65-F5344CB8AC3E}">
        <p14:creationId xmlns:p14="http://schemas.microsoft.com/office/powerpoint/2010/main" val="2614674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7EEECC-A0CC-D94E-91DF-C22A28BB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0" y="102389"/>
            <a:ext cx="4227225" cy="3215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443051-06F6-D941-8528-82ADAB77F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77" y="991537"/>
            <a:ext cx="6933455" cy="4874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A3528A-73D8-314A-9CF5-1D49BE86A23F}"/>
              </a:ext>
            </a:extLst>
          </p:cNvPr>
          <p:cNvSpPr txBox="1"/>
          <p:nvPr/>
        </p:nvSpPr>
        <p:spPr>
          <a:xfrm>
            <a:off x="4289685" y="43216"/>
            <a:ext cx="3612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Overall, this could be a good 2D test system for REAP/WERL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DA97E-4F72-2B43-988F-2F17A24D7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56" y="3377273"/>
            <a:ext cx="4029232" cy="321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84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3CF702-F136-C041-AB59-DBE4254BA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30" y="3438028"/>
            <a:ext cx="4440107" cy="34380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9DA017-BF69-D645-A477-F8064856C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93" y="2563688"/>
            <a:ext cx="5757470" cy="40184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4ED50E-F57F-E64D-9977-55F116D2F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07" y="0"/>
            <a:ext cx="4522843" cy="3438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1AF2C6-288F-8640-9A28-7D600EA84608}"/>
              </a:ext>
            </a:extLst>
          </p:cNvPr>
          <p:cNvSpPr txBox="1"/>
          <p:nvPr/>
        </p:nvSpPr>
        <p:spPr>
          <a:xfrm>
            <a:off x="8940345" y="884420"/>
            <a:ext cx="2712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 the other / standard side of the 2D </a:t>
            </a:r>
            <a:r>
              <a:rPr lang="en-US" dirty="0" err="1"/>
              <a:t>odld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2032B-9690-694F-9AF3-D79162A48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850" y="132647"/>
            <a:ext cx="2712646" cy="208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61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7EEECC-A0CC-D94E-91DF-C22A28BB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0" y="102389"/>
            <a:ext cx="4227225" cy="32157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BDA97E-4F72-2B43-988F-2F17A24D7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56" y="3377273"/>
            <a:ext cx="4029232" cy="3215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376BE6-E5DC-594B-B78E-7A60BD11E4AF}"/>
              </a:ext>
            </a:extLst>
          </p:cNvPr>
          <p:cNvSpPr txBox="1"/>
          <p:nvPr/>
        </p:nvSpPr>
        <p:spPr>
          <a:xfrm>
            <a:off x="6096000" y="209862"/>
            <a:ext cx="497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standard binning with normal friction (0.001)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EA606-24F6-414D-9C3D-9D06A590F8DE}"/>
              </a:ext>
            </a:extLst>
          </p:cNvPr>
          <p:cNvSpPr txBox="1"/>
          <p:nvPr/>
        </p:nvSpPr>
        <p:spPr>
          <a:xfrm>
            <a:off x="10687987" y="2248525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1-500i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09E98-B54E-2545-B1E8-3ABE1B433431}"/>
              </a:ext>
            </a:extLst>
          </p:cNvPr>
          <p:cNvSpPr txBox="1"/>
          <p:nvPr/>
        </p:nvSpPr>
        <p:spPr>
          <a:xfrm>
            <a:off x="10687987" y="517802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500-1000i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4CEB6F-DF4D-8C4C-AF26-F89D8B94C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770" y="706604"/>
            <a:ext cx="4437088" cy="3083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E10D71-F64C-574D-BABE-AAE08AE59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087" y="3540038"/>
            <a:ext cx="4477771" cy="31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68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398D88-7672-9B42-A3D4-A3067CB4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872" y="690167"/>
            <a:ext cx="4029539" cy="2767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089E02-D6EE-1644-ADB6-BBB8BDD72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873" y="661296"/>
            <a:ext cx="4029539" cy="2825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26A55B-BBAA-F04A-8F8A-4B5478146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68" y="3634145"/>
            <a:ext cx="3950533" cy="27851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CB49AA-A5A6-2F4F-853B-FD75EA85DB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53" y="661296"/>
            <a:ext cx="3947962" cy="2767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A1D8BF-FB08-1F44-B77C-1036EAB23F50}"/>
              </a:ext>
            </a:extLst>
          </p:cNvPr>
          <p:cNvSpPr txBox="1"/>
          <p:nvPr/>
        </p:nvSpPr>
        <p:spPr>
          <a:xfrm>
            <a:off x="141056" y="159958"/>
            <a:ext cx="1832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All: 500 iterations</a:t>
            </a:r>
          </a:p>
        </p:txBody>
      </p:sp>
    </p:spTree>
    <p:extLst>
      <p:ext uri="{BB962C8B-B14F-4D97-AF65-F5344CB8AC3E}">
        <p14:creationId xmlns:p14="http://schemas.microsoft.com/office/powerpoint/2010/main" val="2645763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17199-D8C4-1648-BD61-00554957040A}"/>
              </a:ext>
            </a:extLst>
          </p:cNvPr>
          <p:cNvSpPr txBox="1"/>
          <p:nvPr/>
        </p:nvSpPr>
        <p:spPr>
          <a:xfrm>
            <a:off x="1049311" y="539646"/>
            <a:ext cx="657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that I figured out the grad vs energy plotting, it all makes sense: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0BD837-0EC7-E74A-803E-C0FE2C46C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5" y="2341762"/>
            <a:ext cx="3786578" cy="2753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37A5DB-AE6D-3A4D-85A5-EC8F3CFE6035}"/>
              </a:ext>
            </a:extLst>
          </p:cNvPr>
          <p:cNvSpPr txBox="1"/>
          <p:nvPr/>
        </p:nvSpPr>
        <p:spPr>
          <a:xfrm>
            <a:off x="824459" y="1978702"/>
            <a:ext cx="25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was using this landscape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00571-D40C-204E-AC77-6DE84E9F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306" y="2341762"/>
            <a:ext cx="3174565" cy="2288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49C51E-7D74-D64C-B658-C708311EBCBC}"/>
              </a:ext>
            </a:extLst>
          </p:cNvPr>
          <p:cNvSpPr txBox="1"/>
          <p:nvPr/>
        </p:nvSpPr>
        <p:spPr>
          <a:xfrm>
            <a:off x="7225259" y="1903751"/>
            <a:ext cx="176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Hence this result</a:t>
            </a:r>
          </a:p>
        </p:txBody>
      </p:sp>
    </p:spTree>
    <p:extLst>
      <p:ext uri="{BB962C8B-B14F-4D97-AF65-F5344CB8AC3E}">
        <p14:creationId xmlns:p14="http://schemas.microsoft.com/office/powerpoint/2010/main" val="4212230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55F063-326B-9D4F-B8A5-F2C1905CF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42" y="1133356"/>
            <a:ext cx="4013200" cy="294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E9228E-90A5-BC4A-82CC-DB9089C1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64"/>
            <a:ext cx="10515600" cy="1325563"/>
          </a:xfrm>
        </p:spPr>
        <p:txBody>
          <a:bodyPr/>
          <a:lstStyle/>
          <a:p>
            <a:r>
              <a:rPr lang="en-US" b="1" dirty="0"/>
              <a:t>Let’s get a baseline for 2D ODLD now: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7FB2DC-0B73-0640-AC90-1ACA2631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766" y="4079756"/>
            <a:ext cx="3416717" cy="2660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AC8D8-1B3D-5F4D-B664-BA3EAD243463}"/>
              </a:ext>
            </a:extLst>
          </p:cNvPr>
          <p:cNvSpPr txBox="1"/>
          <p:nvPr/>
        </p:nvSpPr>
        <p:spPr>
          <a:xfrm>
            <a:off x="1567962" y="1639344"/>
            <a:ext cx="242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potential (normed)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F4308-CE6F-FA43-AFDC-C1F8FB7A4CBB}"/>
              </a:ext>
            </a:extLst>
          </p:cNvPr>
          <p:cNvSpPr txBox="1"/>
          <p:nvPr/>
        </p:nvSpPr>
        <p:spPr>
          <a:xfrm>
            <a:off x="7619636" y="1824010"/>
            <a:ext cx="3860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 steps, using lower 0.01**0.5 sigma</a:t>
            </a:r>
          </a:p>
          <a:p>
            <a:r>
              <a:rPr lang="en-US" dirty="0"/>
              <a:t>Std H&amp;K 10x10 binning, 1000i, last 50%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16FE8-5068-A14E-A064-072B16A79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18451"/>
            <a:ext cx="3416717" cy="2621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BAD242-F8F8-114B-AEF0-7A24D3DAA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546" y="2874635"/>
            <a:ext cx="4623172" cy="323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0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74BF-CBF7-0A44-8B01-D12FF09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Decided to use just last frame of </a:t>
            </a:r>
            <a:r>
              <a:rPr lang="en-US" dirty="0" err="1"/>
              <a:t>pcoord</a:t>
            </a:r>
            <a:r>
              <a:rPr lang="en-US" dirty="0"/>
              <a:t> array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F0738-8DEB-9D44-9206-3FC4CA8A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C5B5C1-78F2-4545-8221-CADF9AA8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3" y="1661877"/>
            <a:ext cx="2823996" cy="1994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4021D2-C8E8-5540-A40B-EF2641983F71}"/>
              </a:ext>
            </a:extLst>
          </p:cNvPr>
          <p:cNvSpPr txBox="1"/>
          <p:nvPr/>
        </p:nvSpPr>
        <p:spPr>
          <a:xfrm>
            <a:off x="1042277" y="510455"/>
            <a:ext cx="87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 MD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518AD-AADE-E343-8F72-4798BEEB5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601" y="1661877"/>
            <a:ext cx="2777425" cy="19941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4E048-063A-C442-99E8-283379618E2F}"/>
              </a:ext>
            </a:extLst>
          </p:cNvPr>
          <p:cNvSpPr txBox="1"/>
          <p:nvPr/>
        </p:nvSpPr>
        <p:spPr>
          <a:xfrm>
            <a:off x="4216199" y="510455"/>
            <a:ext cx="64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LCAS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7CC9E-08DC-9549-8F49-C365D5CD9BD8}"/>
              </a:ext>
            </a:extLst>
          </p:cNvPr>
          <p:cNvSpPr txBox="1"/>
          <p:nvPr/>
        </p:nvSpPr>
        <p:spPr>
          <a:xfrm>
            <a:off x="7140640" y="510455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600E70-5790-FA40-B6CE-C8B2D8F1F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3" y="4233511"/>
            <a:ext cx="2823996" cy="1993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E4E576-F15D-7140-9A57-3A8BC6972631}"/>
              </a:ext>
            </a:extLst>
          </p:cNvPr>
          <p:cNvSpPr txBox="1"/>
          <p:nvPr/>
        </p:nvSpPr>
        <p:spPr>
          <a:xfrm>
            <a:off x="10345657" y="510455"/>
            <a:ext cx="80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Std HK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509041-CF28-8449-8523-15D5A20D7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592" y="4233511"/>
            <a:ext cx="2777425" cy="1931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42A03A-93D8-F74A-A621-C4756EB11C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2030" y="4253569"/>
            <a:ext cx="2823996" cy="19738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834AE4-C4AA-A340-94C2-9C3309AA7FC8}"/>
              </a:ext>
            </a:extLst>
          </p:cNvPr>
          <p:cNvSpPr txBox="1"/>
          <p:nvPr/>
        </p:nvSpPr>
        <p:spPr>
          <a:xfrm>
            <a:off x="6761785" y="1086166"/>
            <a:ext cx="142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w/thresholds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A7B10A-8792-2E48-AE59-2DAE6F454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592" y="1693430"/>
            <a:ext cx="2758052" cy="19310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12E775-DF19-D041-9EB6-B912E13DA2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974" y="1693430"/>
            <a:ext cx="2823996" cy="19654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765204-6451-D449-8B32-2E58076DE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7974" y="4215680"/>
            <a:ext cx="2823996" cy="19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25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5776E-6DDA-A348-81F3-351ABB4FDE78}"/>
              </a:ext>
            </a:extLst>
          </p:cNvPr>
          <p:cNvSpPr txBox="1"/>
          <p:nvPr/>
        </p:nvSpPr>
        <p:spPr>
          <a:xfrm>
            <a:off x="4440983" y="510455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301D5-9771-B943-8A40-1589EF5C5D0B}"/>
              </a:ext>
            </a:extLst>
          </p:cNvPr>
          <p:cNvSpPr txBox="1"/>
          <p:nvPr/>
        </p:nvSpPr>
        <p:spPr>
          <a:xfrm>
            <a:off x="4062128" y="1086166"/>
            <a:ext cx="142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w/thresholds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4E80E-C574-494D-B1DA-B02C2A2A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726" y="1693430"/>
            <a:ext cx="2823996" cy="1965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9B9169-3543-BC4B-ABC1-92B36EB4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726" y="4215680"/>
            <a:ext cx="2823996" cy="1966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B0E25F-9C56-0A4D-AD3B-344A0EE28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6" y="1703154"/>
            <a:ext cx="2823996" cy="19557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EEE2BF-B058-C645-A562-00ADF02E2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65" y="4226681"/>
            <a:ext cx="2841237" cy="19557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541355-F266-7546-8FF1-7E870AA80ECB}"/>
              </a:ext>
            </a:extLst>
          </p:cNvPr>
          <p:cNvSpPr txBox="1"/>
          <p:nvPr/>
        </p:nvSpPr>
        <p:spPr>
          <a:xfrm>
            <a:off x="1226068" y="268159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71ED9-0129-F046-99F4-812CBBC6CED7}"/>
              </a:ext>
            </a:extLst>
          </p:cNvPr>
          <p:cNvSpPr txBox="1"/>
          <p:nvPr/>
        </p:nvSpPr>
        <p:spPr>
          <a:xfrm>
            <a:off x="847213" y="843870"/>
            <a:ext cx="149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thresholds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84F4B-D12B-7640-BA56-BD65B9051F69}"/>
              </a:ext>
            </a:extLst>
          </p:cNvPr>
          <p:cNvSpPr txBox="1"/>
          <p:nvPr/>
        </p:nvSpPr>
        <p:spPr>
          <a:xfrm>
            <a:off x="6377695" y="510455"/>
            <a:ext cx="2556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REAP: no thresholds, but </a:t>
            </a:r>
          </a:p>
          <a:p>
            <a:r>
              <a:rPr lang="en-US" dirty="0"/>
              <a:t>delta from 0.02 to 0.2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480968-CBFB-B744-86BF-F5AC89A7C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0104" y="1693430"/>
            <a:ext cx="2798620" cy="1955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73F923-CDBC-D143-B4D3-8E02FF0A65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0104" y="4214785"/>
            <a:ext cx="2823996" cy="196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01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0BD4D1-FAA4-F540-AB2E-CCBBC705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22" y="2389448"/>
            <a:ext cx="4774293" cy="3330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042EE1-6284-8D4D-83E7-D1A62A9DE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600" y="1997562"/>
            <a:ext cx="4794900" cy="3827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A5DC38-C2CC-9640-95CE-A8C0959CDAE8}"/>
              </a:ext>
            </a:extLst>
          </p:cNvPr>
          <p:cNvSpPr txBox="1"/>
          <p:nvPr/>
        </p:nvSpPr>
        <p:spPr>
          <a:xfrm>
            <a:off x="219406" y="1628230"/>
            <a:ext cx="523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return of (</a:t>
            </a:r>
            <a:r>
              <a:rPr lang="en-US" dirty="0" err="1"/>
              <a:t>gradx</a:t>
            </a:r>
            <a:r>
              <a:rPr lang="en-US" dirty="0"/>
              <a:t>, </a:t>
            </a:r>
            <a:r>
              <a:rPr lang="en-US" dirty="0" err="1"/>
              <a:t>grady</a:t>
            </a:r>
            <a:r>
              <a:rPr lang="en-US" dirty="0"/>
              <a:t>) instead of </a:t>
            </a:r>
            <a:r>
              <a:rPr lang="en-US" dirty="0" err="1"/>
              <a:t>gradx</a:t>
            </a:r>
            <a:r>
              <a:rPr lang="en-US" dirty="0"/>
              <a:t> + </a:t>
            </a:r>
            <a:r>
              <a:rPr lang="en-US" dirty="0" err="1"/>
              <a:t>grady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67B54-E199-3649-B8E9-CF8F6C4423D4}"/>
              </a:ext>
            </a:extLst>
          </p:cNvPr>
          <p:cNvSpPr txBox="1"/>
          <p:nvPr/>
        </p:nvSpPr>
        <p:spPr>
          <a:xfrm>
            <a:off x="7329714" y="1654629"/>
            <a:ext cx="233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still </a:t>
            </a:r>
            <a:r>
              <a:rPr lang="en-US" dirty="0" err="1"/>
              <a:t>gradx+grady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DD074-A422-4B43-99E1-65030353B8EF}"/>
              </a:ext>
            </a:extLst>
          </p:cNvPr>
          <p:cNvSpPr txBox="1"/>
          <p:nvPr/>
        </p:nvSpPr>
        <p:spPr>
          <a:xfrm>
            <a:off x="1364343" y="1016000"/>
            <a:ext cx="203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friction, </a:t>
            </a:r>
            <a:r>
              <a:rPr lang="en-US" dirty="0" err="1"/>
              <a:t>stdMD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16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A0AD20-BA5B-F84E-A0E3-5ED63BCE2471}"/>
              </a:ext>
            </a:extLst>
          </p:cNvPr>
          <p:cNvSpPr txBox="1"/>
          <p:nvPr/>
        </p:nvSpPr>
        <p:spPr>
          <a:xfrm>
            <a:off x="920376" y="109639"/>
            <a:ext cx="12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100i </a:t>
            </a:r>
            <a:r>
              <a:rPr lang="en-US" dirty="0" err="1"/>
              <a:t>stdMD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C1BCF-02D0-A94E-8A21-128696CD8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203" y="498721"/>
            <a:ext cx="2858164" cy="2012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5B9455-35D0-1342-A8FE-3F6E90F74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65" y="498722"/>
            <a:ext cx="2880194" cy="2012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192FF4-51C8-ED46-9F74-AB1E0D440921}"/>
              </a:ext>
            </a:extLst>
          </p:cNvPr>
          <p:cNvSpPr txBox="1"/>
          <p:nvPr/>
        </p:nvSpPr>
        <p:spPr>
          <a:xfrm>
            <a:off x="4438259" y="119514"/>
            <a:ext cx="64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LCAS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FDCF8F-7E7B-3B49-ABC2-F4B3B1794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541" y="478971"/>
            <a:ext cx="2861302" cy="20122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9E0EE0-F708-A44A-BF02-47DAB66E59F8}"/>
              </a:ext>
            </a:extLst>
          </p:cNvPr>
          <p:cNvSpPr txBox="1"/>
          <p:nvPr/>
        </p:nvSpPr>
        <p:spPr>
          <a:xfrm>
            <a:off x="7296422" y="129389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980679-D817-F649-BC8D-C3D036F30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697" y="471984"/>
            <a:ext cx="2861303" cy="20192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64FE05-303A-CE4A-97FC-C3CE719E0FA6}"/>
              </a:ext>
            </a:extLst>
          </p:cNvPr>
          <p:cNvSpPr txBox="1"/>
          <p:nvPr/>
        </p:nvSpPr>
        <p:spPr>
          <a:xfrm>
            <a:off x="10072914" y="203200"/>
            <a:ext cx="73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stdHK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510282-4A79-3848-B1FD-BAC62B81023E}"/>
              </a:ext>
            </a:extLst>
          </p:cNvPr>
          <p:cNvSpPr txBox="1"/>
          <p:nvPr/>
        </p:nvSpPr>
        <p:spPr>
          <a:xfrm>
            <a:off x="811519" y="3059668"/>
            <a:ext cx="12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500i </a:t>
            </a:r>
            <a:r>
              <a:rPr lang="en-US" dirty="0" err="1"/>
              <a:t>stdMD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067196-E208-BC4F-A4D0-9CE7369A4917}"/>
              </a:ext>
            </a:extLst>
          </p:cNvPr>
          <p:cNvSpPr txBox="1"/>
          <p:nvPr/>
        </p:nvSpPr>
        <p:spPr>
          <a:xfrm>
            <a:off x="4329402" y="3069543"/>
            <a:ext cx="64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LCAS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CC4A9-8C7A-5D49-9C7B-32CD0AE1D001}"/>
              </a:ext>
            </a:extLst>
          </p:cNvPr>
          <p:cNvSpPr txBox="1"/>
          <p:nvPr/>
        </p:nvSpPr>
        <p:spPr>
          <a:xfrm>
            <a:off x="7187565" y="3079418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80A89F-4C72-0B4F-B5FF-4ED40566E8CE}"/>
              </a:ext>
            </a:extLst>
          </p:cNvPr>
          <p:cNvSpPr txBox="1"/>
          <p:nvPr/>
        </p:nvSpPr>
        <p:spPr>
          <a:xfrm>
            <a:off x="9964057" y="3153229"/>
            <a:ext cx="73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stdHK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38F54-B043-D946-854E-A21EA641D4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6380" y="3922964"/>
            <a:ext cx="3023643" cy="19810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72397-4848-394E-84C2-15237520BD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028" y="3908222"/>
            <a:ext cx="3023642" cy="2012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FEDF6E-D2CC-734E-ADB9-AB07043BB0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46" y="3906464"/>
            <a:ext cx="3023642" cy="2014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0C6398-3545-9F40-9987-B0C535318D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7843" y="3888822"/>
            <a:ext cx="3023642" cy="195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34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699036-5063-4141-A2E8-2CF24653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04" y="3708333"/>
            <a:ext cx="3992335" cy="27566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FCDD74-A403-B14D-923E-EA3DA5C63C6B}"/>
              </a:ext>
            </a:extLst>
          </p:cNvPr>
          <p:cNvSpPr txBox="1"/>
          <p:nvPr/>
        </p:nvSpPr>
        <p:spPr>
          <a:xfrm>
            <a:off x="2220686" y="3429000"/>
            <a:ext cx="118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 500i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724EB-27C9-B64B-BB42-75E6A9EB04B3}"/>
              </a:ext>
            </a:extLst>
          </p:cNvPr>
          <p:cNvSpPr txBox="1"/>
          <p:nvPr/>
        </p:nvSpPr>
        <p:spPr>
          <a:xfrm>
            <a:off x="7402285" y="142688"/>
            <a:ext cx="237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but w/thresholds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69956-FD83-A14C-8ADB-F8F681530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04" y="512020"/>
            <a:ext cx="3992335" cy="2807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4B503-DE47-054D-B3C9-1587F92623B7}"/>
              </a:ext>
            </a:extLst>
          </p:cNvPr>
          <p:cNvSpPr txBox="1"/>
          <p:nvPr/>
        </p:nvSpPr>
        <p:spPr>
          <a:xfrm>
            <a:off x="1973943" y="142688"/>
            <a:ext cx="112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REAP 100i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4338C6-AB2F-1C4F-A4BA-03FB7C2ED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793" y="512020"/>
            <a:ext cx="4005053" cy="28076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1D99F5-28CB-7240-9506-630C8F34B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928" y="3657278"/>
            <a:ext cx="3941307" cy="28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9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91EB-9B0A-3345-A31A-DFF1A332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4114"/>
          </a:xfrm>
        </p:spPr>
        <p:txBody>
          <a:bodyPr>
            <a:normAutofit/>
          </a:bodyPr>
          <a:lstStyle/>
          <a:p>
            <a:r>
              <a:rPr lang="en-US" sz="2000" b="1" dirty="0"/>
              <a:t>Multi-agent LCAS: 80 walkers, 20 steps, 20 </a:t>
            </a:r>
            <a:r>
              <a:rPr lang="en-US" sz="2000" b="1" dirty="0" err="1"/>
              <a:t>n_clusters</a:t>
            </a:r>
            <a:r>
              <a:rPr lang="en-US" sz="2000" b="1" dirty="0"/>
              <a:t>/</a:t>
            </a:r>
            <a:r>
              <a:rPr lang="en-US" sz="2000" b="1" dirty="0" err="1"/>
              <a:t>n_splits</a:t>
            </a:r>
            <a:r>
              <a:rPr lang="en-US" sz="2000" b="1" dirty="0"/>
              <a:t>, thresh 0.1/1e-12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B2C80-40A1-6942-8F93-EDE37605B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42" y="1130855"/>
            <a:ext cx="3683000" cy="2444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51607-EC35-594D-8F79-CE30AD13C96F}"/>
              </a:ext>
            </a:extLst>
          </p:cNvPr>
          <p:cNvSpPr txBox="1"/>
          <p:nvPr/>
        </p:nvSpPr>
        <p:spPr>
          <a:xfrm>
            <a:off x="1088571" y="761523"/>
            <a:ext cx="139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agent, 100i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7632E-0F2B-0049-B6F4-6A5AE68BB689}"/>
              </a:ext>
            </a:extLst>
          </p:cNvPr>
          <p:cNvSpPr txBox="1"/>
          <p:nvPr/>
        </p:nvSpPr>
        <p:spPr>
          <a:xfrm>
            <a:off x="1088571" y="3760271"/>
            <a:ext cx="139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agent, 500i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A914D-1E6F-204B-A4FD-041320278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42" y="4314269"/>
            <a:ext cx="3683000" cy="2415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6C43E1-3A9D-4F4A-93F6-EF6095A51822}"/>
              </a:ext>
            </a:extLst>
          </p:cNvPr>
          <p:cNvSpPr txBox="1"/>
          <p:nvPr/>
        </p:nvSpPr>
        <p:spPr>
          <a:xfrm>
            <a:off x="5396545" y="761523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agents, 100i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B794B-14BA-274D-8492-996CB8D32C06}"/>
              </a:ext>
            </a:extLst>
          </p:cNvPr>
          <p:cNvSpPr txBox="1"/>
          <p:nvPr/>
        </p:nvSpPr>
        <p:spPr>
          <a:xfrm>
            <a:off x="5396545" y="3760271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agents, 500i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370DC-11C5-EC40-A5BA-949EA7135212}"/>
              </a:ext>
            </a:extLst>
          </p:cNvPr>
          <p:cNvSpPr txBox="1"/>
          <p:nvPr/>
        </p:nvSpPr>
        <p:spPr>
          <a:xfrm>
            <a:off x="9614752" y="761523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agents, 100i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3097B-E24B-6545-A716-F492ECF09288}"/>
              </a:ext>
            </a:extLst>
          </p:cNvPr>
          <p:cNvSpPr txBox="1"/>
          <p:nvPr/>
        </p:nvSpPr>
        <p:spPr>
          <a:xfrm>
            <a:off x="9614752" y="3760271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agents, 500i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9768B2-C268-7D40-9CB3-E940E4125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692" y="1223188"/>
            <a:ext cx="3708616" cy="2444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67E5C4-9D02-3D4D-9F47-8F6134713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131" y="4304813"/>
            <a:ext cx="3708616" cy="24510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7ED45C-74F0-004A-97C3-4DB375900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54" y="1223188"/>
            <a:ext cx="3708617" cy="24361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7B0178-A03B-C94D-9C6A-7A3B343C11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771" y="4335409"/>
            <a:ext cx="3683000" cy="238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80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466-020C-7146-98B5-5F8F1781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10515600" cy="1426369"/>
          </a:xfrm>
        </p:spPr>
        <p:txBody>
          <a:bodyPr/>
          <a:lstStyle/>
          <a:p>
            <a:r>
              <a:rPr lang="en-US" dirty="0"/>
              <a:t>29Apr2024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F9688-07EC-A54C-92AD-7C9A2F90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882357"/>
            <a:ext cx="10515600" cy="1500187"/>
          </a:xfrm>
        </p:spPr>
        <p:txBody>
          <a:bodyPr/>
          <a:lstStyle/>
          <a:p>
            <a:r>
              <a:rPr lang="en-US" dirty="0"/>
              <a:t>Updated REAP to record weights, now using altered Z potential in </a:t>
            </a:r>
            <a:r>
              <a:rPr lang="en-US" dirty="0" err="1"/>
              <a:t>OpenMM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D5F59A-20F9-514F-A342-8A3882369D47}"/>
                  </a:ext>
                </a:extLst>
              </p:cNvPr>
              <p:cNvSpPr txBox="1"/>
              <p:nvPr/>
            </p:nvSpPr>
            <p:spPr>
              <a:xfrm>
                <a:off x="7561943" y="2017486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D5F59A-20F9-514F-A342-8A3882369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943" y="2017486"/>
                <a:ext cx="18473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227CAD4-CB26-774E-8DE9-CF513FAD7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349959"/>
            <a:ext cx="12192000" cy="1507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F404DC-AD5B-BA45-8831-05B80B4EB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50" y="1756641"/>
            <a:ext cx="347345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64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6B6252-844F-E04B-BC74-40B917A42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35" y="336550"/>
            <a:ext cx="3473450" cy="2755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776E8D-40A2-0545-AD33-23E7A54FF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85" y="136171"/>
            <a:ext cx="3984171" cy="26197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F0120F-87B2-184E-9216-44ACFD021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453" y="136171"/>
            <a:ext cx="4005031" cy="2619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E2EEBA-E9E4-E740-AC50-6CD01D7BF801}"/>
              </a:ext>
            </a:extLst>
          </p:cNvPr>
          <p:cNvSpPr txBox="1"/>
          <p:nvPr/>
        </p:nvSpPr>
        <p:spPr>
          <a:xfrm>
            <a:off x="4470400" y="37737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StdMD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DDA55-E494-6345-8F7A-EE783C4DC3CC}"/>
              </a:ext>
            </a:extLst>
          </p:cNvPr>
          <p:cNvSpPr txBox="1"/>
          <p:nvPr/>
        </p:nvSpPr>
        <p:spPr>
          <a:xfrm>
            <a:off x="8701315" y="37737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HK-2D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3ED88F-DE14-8C41-B814-B3A16EF51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29000"/>
            <a:ext cx="3984171" cy="2615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001C2-8572-B449-9A3B-F23057A0A28D}"/>
              </a:ext>
            </a:extLst>
          </p:cNvPr>
          <p:cNvSpPr txBox="1"/>
          <p:nvPr/>
        </p:nvSpPr>
        <p:spPr>
          <a:xfrm>
            <a:off x="846738" y="376645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HK-1D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6369A3-4BF4-8B41-9DE0-90FC86B062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3914" y="3429000"/>
            <a:ext cx="3984171" cy="2581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0E152-B2F5-BB47-820B-4E817BD228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7828" y="3395919"/>
            <a:ext cx="3984171" cy="2615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922CAF-5758-404A-A3CC-C477528BE418}"/>
              </a:ext>
            </a:extLst>
          </p:cNvPr>
          <p:cNvSpPr txBox="1"/>
          <p:nvPr/>
        </p:nvSpPr>
        <p:spPr>
          <a:xfrm>
            <a:off x="4928217" y="376645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LCAS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9DB5A-5320-384E-B5A1-D5CFF8B5AFDA}"/>
              </a:ext>
            </a:extLst>
          </p:cNvPr>
          <p:cNvSpPr txBox="1"/>
          <p:nvPr/>
        </p:nvSpPr>
        <p:spPr>
          <a:xfrm>
            <a:off x="8912388" y="376645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</a:t>
            </a:r>
          </a:p>
        </p:txBody>
      </p:sp>
    </p:spTree>
    <p:extLst>
      <p:ext uri="{BB962C8B-B14F-4D97-AF65-F5344CB8AC3E}">
        <p14:creationId xmlns:p14="http://schemas.microsoft.com/office/powerpoint/2010/main" val="2855633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0C34583-356A-6949-9F11-3DF7AB60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085" y="3766458"/>
            <a:ext cx="3937318" cy="26294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0E3C32-A623-8142-B826-5DB7CF6E0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235" y="281797"/>
            <a:ext cx="3937318" cy="2581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E290DB-D87F-0D44-9003-B7DFAAE81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555" y="262851"/>
            <a:ext cx="4003410" cy="25819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6B6252-844F-E04B-BC74-40B917A426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35" y="336550"/>
            <a:ext cx="3473450" cy="275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E2EEBA-E9E4-E740-AC50-6CD01D7BF801}"/>
              </a:ext>
            </a:extLst>
          </p:cNvPr>
          <p:cNvSpPr txBox="1"/>
          <p:nvPr/>
        </p:nvSpPr>
        <p:spPr>
          <a:xfrm>
            <a:off x="4470400" y="37737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StdMD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DDA55-E494-6345-8F7A-EE783C4DC3CC}"/>
              </a:ext>
            </a:extLst>
          </p:cNvPr>
          <p:cNvSpPr txBox="1"/>
          <p:nvPr/>
        </p:nvSpPr>
        <p:spPr>
          <a:xfrm>
            <a:off x="8701315" y="37737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HK-2D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001C2-8572-B449-9A3B-F23057A0A28D}"/>
              </a:ext>
            </a:extLst>
          </p:cNvPr>
          <p:cNvSpPr txBox="1"/>
          <p:nvPr/>
        </p:nvSpPr>
        <p:spPr>
          <a:xfrm>
            <a:off x="867102" y="3429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HK-1D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922CAF-5758-404A-A3CC-C477528BE418}"/>
              </a:ext>
            </a:extLst>
          </p:cNvPr>
          <p:cNvSpPr txBox="1"/>
          <p:nvPr/>
        </p:nvSpPr>
        <p:spPr>
          <a:xfrm>
            <a:off x="4928217" y="3429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LCAS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9DB5A-5320-384E-B5A1-D5CFF8B5AFDA}"/>
              </a:ext>
            </a:extLst>
          </p:cNvPr>
          <p:cNvSpPr txBox="1"/>
          <p:nvPr/>
        </p:nvSpPr>
        <p:spPr>
          <a:xfrm>
            <a:off x="8912388" y="34290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57618F-A7CF-324F-A71A-3C0A3B8592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1842" y="3861357"/>
            <a:ext cx="3937318" cy="25345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2500B0-1926-794B-A536-40F23D0F62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2" y="3861357"/>
            <a:ext cx="4003410" cy="26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05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CC804-A6FF-F44D-900A-C7CFFE12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5" y="336550"/>
            <a:ext cx="3473450" cy="2755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C3F0D3-E969-5A40-9AB5-F5A82C1BA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94" y="477410"/>
            <a:ext cx="3984171" cy="2615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EE407F-D8A5-1540-8458-377DD57C35B3}"/>
              </a:ext>
            </a:extLst>
          </p:cNvPr>
          <p:cNvSpPr txBox="1"/>
          <p:nvPr/>
        </p:nvSpPr>
        <p:spPr>
          <a:xfrm>
            <a:off x="8841633" y="731836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Iters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A70B5-768E-774A-A34A-1D0E42024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792" y="336550"/>
            <a:ext cx="3729694" cy="2755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801C14-BD90-184C-8595-0873DE06C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75" y="3765550"/>
            <a:ext cx="3934277" cy="2579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E53AB1-79B5-F042-B0DF-1D3EC721D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3429" y="3765550"/>
            <a:ext cx="3985367" cy="2579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389ECC-B57F-1A4B-B57F-4076F3F93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0773" y="3765550"/>
            <a:ext cx="3934277" cy="25649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CED875-A294-C947-9A06-F6619E273102}"/>
              </a:ext>
            </a:extLst>
          </p:cNvPr>
          <p:cNvSpPr txBox="1"/>
          <p:nvPr/>
        </p:nvSpPr>
        <p:spPr>
          <a:xfrm>
            <a:off x="802476" y="3961265"/>
            <a:ext cx="132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i0-7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3724BD-5EA9-8B45-B8D9-1A0F668C14A1}"/>
              </a:ext>
            </a:extLst>
          </p:cNvPr>
          <p:cNvSpPr txBox="1"/>
          <p:nvPr/>
        </p:nvSpPr>
        <p:spPr>
          <a:xfrm>
            <a:off x="4844275" y="3961265"/>
            <a:ext cx="145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i7-14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36DE8-2F89-4641-AEAF-3D5D4A12FCDF}"/>
              </a:ext>
            </a:extLst>
          </p:cNvPr>
          <p:cNvSpPr txBox="1"/>
          <p:nvPr/>
        </p:nvSpPr>
        <p:spPr>
          <a:xfrm>
            <a:off x="8886074" y="3961265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i14-21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947DE4-F718-6E46-B19B-C50F9FE0203B}"/>
              </a:ext>
            </a:extLst>
          </p:cNvPr>
          <p:cNvCxnSpPr/>
          <p:nvPr/>
        </p:nvCxnSpPr>
        <p:spPr>
          <a:xfrm>
            <a:off x="5369971" y="470784"/>
            <a:ext cx="0" cy="2309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CBB94A-DD2A-0940-BA0B-AD52F6807FDE}"/>
              </a:ext>
            </a:extLst>
          </p:cNvPr>
          <p:cNvCxnSpPr/>
          <p:nvPr/>
        </p:nvCxnSpPr>
        <p:spPr>
          <a:xfrm>
            <a:off x="6178355" y="470786"/>
            <a:ext cx="0" cy="2309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201AD9-9668-DB4E-8CDC-300B02EA9663}"/>
              </a:ext>
            </a:extLst>
          </p:cNvPr>
          <p:cNvCxnSpPr/>
          <p:nvPr/>
        </p:nvCxnSpPr>
        <p:spPr>
          <a:xfrm>
            <a:off x="6980110" y="470786"/>
            <a:ext cx="0" cy="23093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374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801C14-BD90-184C-8595-0873DE06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5" y="653320"/>
            <a:ext cx="3934277" cy="2579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E53AB1-79B5-F042-B0DF-1D3EC721D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379" y="653320"/>
            <a:ext cx="3985367" cy="25799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389ECC-B57F-1A4B-B57F-4076F3F93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723" y="653320"/>
            <a:ext cx="3934277" cy="25649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CED875-A294-C947-9A06-F6619E273102}"/>
              </a:ext>
            </a:extLst>
          </p:cNvPr>
          <p:cNvSpPr txBox="1"/>
          <p:nvPr/>
        </p:nvSpPr>
        <p:spPr>
          <a:xfrm>
            <a:off x="819426" y="849035"/>
            <a:ext cx="132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i0-7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3724BD-5EA9-8B45-B8D9-1A0F668C14A1}"/>
              </a:ext>
            </a:extLst>
          </p:cNvPr>
          <p:cNvSpPr txBox="1"/>
          <p:nvPr/>
        </p:nvSpPr>
        <p:spPr>
          <a:xfrm>
            <a:off x="4861225" y="849035"/>
            <a:ext cx="145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i7-14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36DE8-2F89-4641-AEAF-3D5D4A12FCDF}"/>
              </a:ext>
            </a:extLst>
          </p:cNvPr>
          <p:cNvSpPr txBox="1"/>
          <p:nvPr/>
        </p:nvSpPr>
        <p:spPr>
          <a:xfrm>
            <a:off x="8903024" y="849035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i14-21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28AE37-8915-0045-8015-0F22EDCDC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22" y="3899738"/>
            <a:ext cx="3934278" cy="2659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5A26B2-3E00-2046-BA9D-C2F983B92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1375" y="3902621"/>
            <a:ext cx="3985367" cy="26569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DF7D0-3847-974C-97F1-74001EC39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3174" y="3899738"/>
            <a:ext cx="3985367" cy="26920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C84105-4880-8843-8E3D-6FB7AF8F5A6E}"/>
              </a:ext>
            </a:extLst>
          </p:cNvPr>
          <p:cNvSpPr txBox="1"/>
          <p:nvPr/>
        </p:nvSpPr>
        <p:spPr>
          <a:xfrm>
            <a:off x="498366" y="3624716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i21-28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0E5EE-ACE8-3245-A265-7F0ABD7DF909}"/>
              </a:ext>
            </a:extLst>
          </p:cNvPr>
          <p:cNvSpPr txBox="1"/>
          <p:nvPr/>
        </p:nvSpPr>
        <p:spPr>
          <a:xfrm>
            <a:off x="4540165" y="3624716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i28-35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247A23-BF4D-A14F-B30E-98C19C19CC55}"/>
              </a:ext>
            </a:extLst>
          </p:cNvPr>
          <p:cNvSpPr txBox="1"/>
          <p:nvPr/>
        </p:nvSpPr>
        <p:spPr>
          <a:xfrm>
            <a:off x="8581964" y="3624716"/>
            <a:ext cx="1578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WERL i35-42</a:t>
            </a:r>
          </a:p>
        </p:txBody>
      </p:sp>
    </p:spTree>
    <p:extLst>
      <p:ext uri="{BB962C8B-B14F-4D97-AF65-F5344CB8AC3E}">
        <p14:creationId xmlns:p14="http://schemas.microsoft.com/office/powerpoint/2010/main" val="213017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E3C3-D07B-4F48-A645-C106D780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Z kinetics, revisit the 2D ODLD</a:t>
            </a:r>
          </a:p>
        </p:txBody>
      </p:sp>
    </p:spTree>
    <p:extLst>
      <p:ext uri="{BB962C8B-B14F-4D97-AF65-F5344CB8AC3E}">
        <p14:creationId xmlns:p14="http://schemas.microsoft.com/office/powerpoint/2010/main" val="224964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26044</TotalTime>
  <Words>1146</Words>
  <Application>Microsoft Macintosh PowerPoint</Application>
  <PresentationFormat>Widescreen</PresentationFormat>
  <Paragraphs>161</Paragraphs>
  <Slides>41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WERL</vt:lpstr>
      <vt:lpstr>Weighted Ensemble Reinforcement Learning (WERL)</vt:lpstr>
      <vt:lpstr>PowerPoint Presentation</vt:lpstr>
      <vt:lpstr>With updated 1000i lowS run std 10bin H&amp;K and updated ODLD potential plot</vt:lpstr>
      <vt:lpstr>MM 2D Potentials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Same thing but with the positive potential, the standard one from before: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get a baseline for 2D ODLD now:</vt:lpstr>
      <vt:lpstr>Decided to use just last frame of pcoord 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Multi-agent LCAS: 80 walkers, 20 steps, 20 n_clusters/n_splits, thresh 0.1/1e-12 </vt:lpstr>
      <vt:lpstr>29Apr2024</vt:lpstr>
      <vt:lpstr>PowerPoint Presentation</vt:lpstr>
      <vt:lpstr>PowerPoint Presentation</vt:lpstr>
      <vt:lpstr>PowerPoint Presentation</vt:lpstr>
      <vt:lpstr>PowerPoint Presentation</vt:lpstr>
      <vt:lpstr>Next: Z kinetics, revisit the 2D ODLD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 Potentials</dc:title>
  <dc:creator>Yang, Darian T</dc:creator>
  <cp:lastModifiedBy>Yang, Darian T</cp:lastModifiedBy>
  <cp:revision>155</cp:revision>
  <dcterms:created xsi:type="dcterms:W3CDTF">2023-12-08T20:10:27Z</dcterms:created>
  <dcterms:modified xsi:type="dcterms:W3CDTF">2024-05-02T16:49:19Z</dcterms:modified>
</cp:coreProperties>
</file>